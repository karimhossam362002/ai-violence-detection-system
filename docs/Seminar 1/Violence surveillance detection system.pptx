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1"/>
  </p:sldMasterIdLst>
  <p:notesMasterIdLst>
    <p:notesMasterId r:id="rId24"/>
  </p:notesMasterIdLst>
  <p:sldIdLst>
    <p:sldId id="269" r:id="rId2"/>
    <p:sldId id="294" r:id="rId3"/>
    <p:sldId id="257" r:id="rId4"/>
    <p:sldId id="258" r:id="rId5"/>
    <p:sldId id="286" r:id="rId6"/>
    <p:sldId id="259" r:id="rId7"/>
    <p:sldId id="283" r:id="rId8"/>
    <p:sldId id="262" r:id="rId9"/>
    <p:sldId id="280" r:id="rId10"/>
    <p:sldId id="301" r:id="rId11"/>
    <p:sldId id="285" r:id="rId12"/>
    <p:sldId id="267" r:id="rId13"/>
    <p:sldId id="268" r:id="rId14"/>
    <p:sldId id="266" r:id="rId15"/>
    <p:sldId id="303" r:id="rId16"/>
    <p:sldId id="263" r:id="rId17"/>
    <p:sldId id="295" r:id="rId18"/>
    <p:sldId id="296" r:id="rId19"/>
    <p:sldId id="298" r:id="rId20"/>
    <p:sldId id="281" r:id="rId21"/>
    <p:sldId id="302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5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FFCDC-9D78-4B0A-9279-EE855D86BEF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02CA6-3296-492E-B02C-02493268D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4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E6F96-5DED-4595-AAF4-C13A93C74205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859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C58F-F818-4460-B799-2576755A022E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49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156C6-FDC5-4C51-874C-8FFE13555232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072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3631-C074-4D49-866D-FD7F8537B130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906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B6E9-40C3-4AA3-AC4B-C2CC9FA4B2B3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5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2144-EA0A-4F5C-BEFB-18E8491A0730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85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186D-11FA-4337-9BDC-792162545CBE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25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AAF5-86FA-46F1-82CF-B8BBE999D8DA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94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356C-5B25-46B0-A473-5FCBC2AC59F8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49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757E-7004-4693-A8CC-673980DBC1D6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56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E22E-D0B3-43A5-B49A-C73AED4312B0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112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28DD-1A4A-4242-98BA-88B1476306A1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3369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0D09-9161-4B92-9A59-B66FA5A2801D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00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304-EEC7-4395-8810-B3228C5E8065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033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9867-F20F-489A-B1BE-8E209C100E65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780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DEBD-1004-4D65-BF52-1CEE51D69E04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281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7E89E-90E2-4DCA-BD91-DABA29174512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5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18B8B1D-F7D2-41C3-A5F6-529F0CC2CBBA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454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sur.biz/%27CCTV_video_footage_auditors%27_-_a_new_profession.pdf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toluwaniaremu/smartcity-cctv-violence-detection-dataset-scvd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Xrt-dXBmjBao3yIBLhqTv4e3iKti7Hw/view?usp=sharing" TargetMode="External"/><Relationship Id="rId2" Type="http://schemas.openxmlformats.org/officeDocument/2006/relationships/hyperlink" Target="https://ieeexplore.ieee.org/abstract/document/9014714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kaggle.com/datasets/toluwaniaremu/smartcity-cctv-violence-detection-dataset-scvd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10D5D-E27A-4C68-9CE3-E7B5D4D7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213EF-5C1A-4597-B80F-00352FA737D8}"/>
              </a:ext>
            </a:extLst>
          </p:cNvPr>
          <p:cNvSpPr txBox="1">
            <a:spLocks/>
          </p:cNvSpPr>
          <p:nvPr/>
        </p:nvSpPr>
        <p:spPr>
          <a:xfrm>
            <a:off x="762000" y="1807881"/>
            <a:ext cx="9825317" cy="14480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/>
              <a:t>Violence Detection in Surveillance System</a:t>
            </a:r>
            <a:endParaRPr lang="fr-FR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5B742A4-0C78-42DA-A58B-BF020D9C3E36}"/>
              </a:ext>
            </a:extLst>
          </p:cNvPr>
          <p:cNvSpPr txBox="1">
            <a:spLocks/>
          </p:cNvSpPr>
          <p:nvPr/>
        </p:nvSpPr>
        <p:spPr>
          <a:xfrm>
            <a:off x="1370693" y="3598339"/>
            <a:ext cx="9440034" cy="104986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Ain Shams University</a:t>
            </a:r>
          </a:p>
          <a:p>
            <a:r>
              <a:rPr lang="en-US"/>
              <a:t>Faculty of Computer &amp; Information Sciences</a:t>
            </a:r>
          </a:p>
          <a:p>
            <a:r>
              <a:rPr lang="en-US"/>
              <a:t>Computer Systems Department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43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6CCEB8-7EFA-40DF-BC83-4951F5E8667C}"/>
              </a:ext>
            </a:extLst>
          </p:cNvPr>
          <p:cNvSpPr txBox="1"/>
          <p:nvPr/>
        </p:nvSpPr>
        <p:spPr>
          <a:xfrm>
            <a:off x="856384" y="612844"/>
            <a:ext cx="95771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Supervisor : Dr. Karim Omara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T.A: Dr. Omar Khaled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/>
          </a:p>
          <a:p>
            <a:r>
              <a:rPr lang="en-US" sz="3000" dirty="0"/>
              <a:t>Team members:</a:t>
            </a:r>
          </a:p>
          <a:p>
            <a:endParaRPr lang="en-US" sz="3000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Basma Khaled Mahmoud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Ali Osama Ali Ebrahim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Ahmed Mohamed Mohamed Taha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Shahd Hany Elsayed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Abdelrahman Ahmed Ezzat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Karim Hossam Elsayed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10D5D-E27A-4C68-9CE3-E7B5D4D7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86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8A21-0A0A-4EF7-9D14-8C07FC8E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2528652" cy="97045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0F1EA-C4AB-4D39-B916-E05359D7FED0}"/>
              </a:ext>
            </a:extLst>
          </p:cNvPr>
          <p:cNvSpPr txBox="1"/>
          <p:nvPr/>
        </p:nvSpPr>
        <p:spPr>
          <a:xfrm>
            <a:off x="1237130" y="2187388"/>
            <a:ext cx="4536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Problem Statement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Objective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Survey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System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Alert Module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SW &amp; HW Requirements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Timeplan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References</a:t>
            </a:r>
          </a:p>
        </p:txBody>
      </p:sp>
      <p:pic>
        <p:nvPicPr>
          <p:cNvPr id="6" name="Picture 5" descr="Hourglass and a calendar">
            <a:extLst>
              <a:ext uri="{FF2B5EF4-FFF2-40B4-BE49-F238E27FC236}">
                <a16:creationId xmlns:a16="http://schemas.microsoft.com/office/drawing/2014/main" id="{FA03C9A0-1D46-4C1C-9A71-DB31D358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270" y="0"/>
            <a:ext cx="6418729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13B0B-ABFE-4C2D-8C20-3EBF2275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0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613381" cy="97045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D9822-DC3B-40CF-BD7B-77ABC6C0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1253469" y="1981197"/>
            <a:ext cx="93966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gg sans"/>
              </a:rPr>
              <a:t>Preserving and enhancing public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security</a:t>
            </a:r>
            <a:r>
              <a:rPr lang="en-US" sz="2400" b="0" i="0" dirty="0">
                <a:effectLst/>
                <a:latin typeface="gg sans"/>
              </a:rPr>
              <a:t> is a critical issue for governments and law enforcement agencies. One of the primary tools in the fight against crime is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CCTV</a:t>
            </a:r>
            <a:r>
              <a:rPr lang="en-US" sz="2400" b="0" i="0" dirty="0">
                <a:effectLst/>
                <a:latin typeface="gg sans"/>
              </a:rPr>
              <a:t> surveillance.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gg sans"/>
              </a:rPr>
              <a:t>With the rapid growth of security cameras in public places like schools, hospitals, banks, and streets,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manually</a:t>
            </a:r>
            <a:r>
              <a:rPr lang="en-US" sz="2400" b="0" i="0" dirty="0">
                <a:effectLst/>
                <a:latin typeface="gg sans"/>
              </a:rPr>
              <a:t> monitoring large amounts of video data has become extremely difficult and inefficient.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0" i="0" dirty="0">
              <a:effectLst/>
              <a:latin typeface="gg sans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gg sans"/>
              </a:rPr>
              <a:t>Automated violence detection systems are therefore essential to assist human operators, improve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response times</a:t>
            </a:r>
            <a:r>
              <a:rPr lang="en-US" sz="2400" b="0" i="0" dirty="0">
                <a:effectLst/>
                <a:latin typeface="gg sans"/>
              </a:rPr>
              <a:t>, and enhance overall public safety.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1488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613381" cy="97045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D9822-DC3B-40CF-BD7B-77ABC6C0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0F20D-7480-42AC-893B-AEFEDBC183FC}"/>
              </a:ext>
            </a:extLst>
          </p:cNvPr>
          <p:cNvSpPr txBox="1"/>
          <p:nvPr/>
        </p:nvSpPr>
        <p:spPr>
          <a:xfrm>
            <a:off x="1202577" y="1927845"/>
            <a:ext cx="9311434" cy="373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inherit"/>
              </a:rPr>
              <a:t>Violence detection draws from multiple fields including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Computer Vision</a:t>
            </a:r>
            <a:r>
              <a:rPr lang="en-US" sz="2400" b="0" i="0" dirty="0">
                <a:effectLst/>
                <a:latin typeface="inherit"/>
              </a:rPr>
              <a:t>,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Action Recognition</a:t>
            </a:r>
            <a:r>
              <a:rPr lang="en-US" sz="2400" b="0" i="0" dirty="0">
                <a:effectLst/>
                <a:latin typeface="inherit"/>
              </a:rPr>
              <a:t>, and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Digital Signal Processing</a:t>
            </a:r>
            <a:r>
              <a:rPr lang="en-US" sz="2400" b="0" i="0" dirty="0">
                <a:solidFill>
                  <a:srgbClr val="FFFF00"/>
                </a:solidFill>
                <a:effectLst/>
                <a:latin typeface="inherit"/>
              </a:rPr>
              <a:t>.</a:t>
            </a:r>
            <a:r>
              <a:rPr lang="en-US" sz="2400" dirty="0">
                <a:solidFill>
                  <a:srgbClr val="FFFF00"/>
                </a:solidFill>
                <a:latin typeface="inherit"/>
              </a:rPr>
              <a:t> </a:t>
            </a:r>
            <a:r>
              <a:rPr lang="en-US" sz="2400" b="0" i="0" dirty="0">
                <a:effectLst/>
                <a:latin typeface="inherit"/>
              </a:rPr>
              <a:t>Approaches have evolved from non-deep learning approaches (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STIP</a:t>
            </a:r>
            <a:r>
              <a:rPr lang="en-US" sz="2400" b="0" i="0" dirty="0">
                <a:effectLst/>
                <a:latin typeface="inherit"/>
              </a:rPr>
              <a:t>,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MoSIFT</a:t>
            </a:r>
            <a:r>
              <a:rPr lang="en-US" sz="2400" b="0" i="0" dirty="0">
                <a:effectLst/>
                <a:latin typeface="inherit"/>
              </a:rPr>
              <a:t>) to deep learning approaches (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CNN</a:t>
            </a:r>
            <a:r>
              <a:rPr lang="en-US" sz="2400" b="0" i="0" dirty="0">
                <a:effectLst/>
                <a:latin typeface="inherit"/>
              </a:rPr>
              <a:t>+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LSTM</a:t>
            </a:r>
            <a:r>
              <a:rPr lang="en-US" sz="2400" b="0" i="0" dirty="0">
                <a:effectLst/>
                <a:latin typeface="inherit"/>
              </a:rPr>
              <a:t>,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inherit"/>
              </a:rPr>
              <a:t>3D CNNs</a:t>
            </a:r>
            <a:r>
              <a:rPr lang="en-US" sz="2400" b="0" i="0" dirty="0">
                <a:effectLst/>
                <a:latin typeface="inherit"/>
              </a:rPr>
              <a:t>) that can learn complex patterns directly from video data.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endParaRPr lang="en-US" sz="2400" dirty="0"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gg sans"/>
              </a:rPr>
              <a:t>Our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vision</a:t>
            </a:r>
            <a:r>
              <a:rPr lang="en-US" sz="2400" b="0" i="0" dirty="0">
                <a:effectLst/>
                <a:latin typeface="gg sans"/>
              </a:rPr>
              <a:t> is to assist governments in enhancing public security through AI-powered CCTV systems that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automatically</a:t>
            </a:r>
            <a:r>
              <a:rPr lang="en-US" sz="2400" b="0" i="0" dirty="0">
                <a:effectLst/>
                <a:latin typeface="gg sans"/>
              </a:rPr>
              <a:t> detect violent behavior and enable faster intervention.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029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B2462-0C1C-4D63-80D9-152BE3AC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913795" y="1689889"/>
            <a:ext cx="10535117" cy="4682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Public violence often go unnoticed until damage is already done because </a:t>
            </a:r>
            <a:r>
              <a:rPr lang="en-US" sz="2400" b="1" dirty="0">
                <a:solidFill>
                  <a:srgbClr val="FFFF0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traditional surveillance 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only records footage without real-time alerts.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endParaRPr lang="en-US" sz="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FFFF00"/>
                </a:solidFill>
              </a:rPr>
              <a:t>massive</a:t>
            </a:r>
            <a:r>
              <a:rPr lang="en-US" sz="2400" dirty="0"/>
              <a:t> volume of real-time CCTV footage overwhelms human operators, who often miss critical threats like </a:t>
            </a:r>
            <a:r>
              <a:rPr lang="en-US" sz="2400" b="1" dirty="0">
                <a:solidFill>
                  <a:srgbClr val="FFFF00"/>
                </a:solidFill>
              </a:rPr>
              <a:t>weapons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FFFF00"/>
                </a:solidFill>
              </a:rPr>
              <a:t>early aggression </a:t>
            </a:r>
            <a:r>
              <a:rPr lang="en-US" sz="2400" dirty="0"/>
              <a:t>in crowded feeds.</a:t>
            </a:r>
            <a:endParaRPr lang="en-US" dirty="0"/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This </a:t>
            </a:r>
            <a:r>
              <a:rPr lang="en-US" sz="2400" b="1" dirty="0">
                <a:solidFill>
                  <a:srgbClr val="FFFF00"/>
                </a:solidFill>
              </a:rPr>
              <a:t>delay</a:t>
            </a:r>
            <a:r>
              <a:rPr lang="en-US" sz="2400" dirty="0"/>
              <a:t> prevents quick emergency response and increases risks to civilians.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Research </a:t>
            </a: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shows</a:t>
            </a:r>
            <a:r>
              <a:rPr lang="en-US" sz="2400" dirty="0"/>
              <a:t> operators miss </a:t>
            </a:r>
            <a:r>
              <a:rPr lang="en-US" sz="2400" b="1" dirty="0">
                <a:solidFill>
                  <a:srgbClr val="FFFF00"/>
                </a:solidFill>
              </a:rPr>
              <a:t>95%</a:t>
            </a:r>
            <a:r>
              <a:rPr lang="en-US" sz="2400" dirty="0"/>
              <a:t> of critical CCTV activity after only </a:t>
            </a:r>
            <a:r>
              <a:rPr lang="en-US" sz="2400" b="1" dirty="0">
                <a:solidFill>
                  <a:srgbClr val="FFFF00"/>
                </a:solidFill>
              </a:rPr>
              <a:t>22 minutes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/>
              <a:t>of continuous monitoring (</a:t>
            </a:r>
            <a:r>
              <a:rPr lang="en-US" sz="2400" b="1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COM-SUR</a:t>
            </a:r>
            <a:r>
              <a:rPr lang="en-US" sz="2400" dirty="0"/>
              <a:t>).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0774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447099" cy="970450"/>
          </a:xfrm>
        </p:spPr>
        <p:txBody>
          <a:bodyPr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4000" dirty="0"/>
              <a:t>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B2462-0C1C-4D63-80D9-152BE3AC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996161" y="2097623"/>
            <a:ext cx="105351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gg sans"/>
              </a:rPr>
              <a:t>The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goal</a:t>
            </a:r>
            <a:r>
              <a:rPr lang="en-US" sz="2400" b="0" i="0" dirty="0">
                <a:effectLst/>
                <a:latin typeface="gg sans"/>
              </a:rPr>
              <a:t> of this work is to processes video signals to extract high-level representations and makes informed decisions based on this data. These decisions include sending real-time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alerts</a:t>
            </a:r>
            <a:r>
              <a:rPr lang="en-US" sz="2400" b="0" i="0" dirty="0">
                <a:effectLst/>
                <a:latin typeface="gg sans"/>
              </a:rPr>
              <a:t> or warnings to security personnel and saving video segments as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evidence</a:t>
            </a:r>
            <a:r>
              <a:rPr lang="en-US" sz="2400" b="0" i="0" dirty="0">
                <a:effectLst/>
                <a:latin typeface="gg sans"/>
              </a:rPr>
              <a:t>.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400" b="0" i="0" dirty="0">
              <a:effectLst/>
              <a:latin typeface="gg sans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gg sans"/>
              </a:rPr>
              <a:t>A </a:t>
            </a: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web-based</a:t>
            </a:r>
            <a:r>
              <a:rPr lang="en-US" sz="2400" b="0" i="0" dirty="0">
                <a:effectLst/>
                <a:latin typeface="gg sans"/>
              </a:rPr>
              <a:t> dashboard allows users to interact with the system, monitor alerts in real-time, and quickly access stored video evidence.</a:t>
            </a:r>
            <a:endParaRPr lang="en-US" sz="2400" b="0" dirty="0">
              <a:effectLst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400" b="0" dirty="0">
              <a:effectLst/>
            </a:endParaRPr>
          </a:p>
          <a:p>
            <a:br>
              <a:rPr lang="en-US" sz="2400" dirty="0"/>
            </a:b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559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777" y="300371"/>
            <a:ext cx="9905998" cy="1478570"/>
          </a:xfrm>
        </p:spPr>
        <p:txBody>
          <a:bodyPr/>
          <a:lstStyle/>
          <a:p>
            <a:pPr algn="l"/>
            <a:r>
              <a:rPr lang="en-US" sz="4000" dirty="0"/>
              <a:t>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B28FE-C0CB-4124-90BF-D2483C35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939705" y="1398692"/>
            <a:ext cx="95743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Violence Recognition from Videos using Deep Learning Techniques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 Published in </a:t>
            </a:r>
            <a:r>
              <a:rPr lang="en-US" b="1" i="1" dirty="0">
                <a:solidFill>
                  <a:srgbClr val="FFFF00"/>
                </a:solidFill>
              </a:rPr>
              <a:t>2019</a:t>
            </a:r>
            <a:endParaRPr lang="en-US" b="1" dirty="0"/>
          </a:p>
          <a:p>
            <a:endParaRPr lang="en-US" dirty="0"/>
          </a:p>
          <a:p>
            <a:r>
              <a:rPr lang="en-US" b="1" dirty="0"/>
              <a:t>By</a:t>
            </a:r>
            <a:r>
              <a:rPr lang="en-US" dirty="0"/>
              <a:t> </a:t>
            </a:r>
            <a:r>
              <a:rPr lang="en-US" b="1" dirty="0"/>
              <a:t>Mohamed Mostafa Soliman, Youssef Mohamed Mostafa, Mohamed Hussein Kamal, Bassel Safwat Chawky, Mina Abd El-Massih Nashed, </a:t>
            </a:r>
            <a:r>
              <a:rPr lang="en-US" b="1" dirty="0">
                <a:solidFill>
                  <a:srgbClr val="FFFF00"/>
                </a:solidFill>
              </a:rPr>
              <a:t>Dr. Dina Khattab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paper presents an </a:t>
            </a:r>
            <a:r>
              <a:rPr lang="en-US" b="1" dirty="0">
                <a:solidFill>
                  <a:srgbClr val="FFFF00"/>
                </a:solidFill>
              </a:rPr>
              <a:t>end-to-end deep learning model </a:t>
            </a:r>
            <a:r>
              <a:rPr lang="en-US" dirty="0"/>
              <a:t>for recognizing violent actions in videos.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uses </a:t>
            </a:r>
            <a:r>
              <a:rPr lang="en-US" b="1" dirty="0">
                <a:solidFill>
                  <a:srgbClr val="FFFF00"/>
                </a:solidFill>
              </a:rPr>
              <a:t>VGG-16 </a:t>
            </a:r>
            <a:r>
              <a:rPr lang="en-US" b="1" dirty="0"/>
              <a:t>model</a:t>
            </a:r>
            <a:r>
              <a:rPr lang="en-US" dirty="0"/>
              <a:t>, </a:t>
            </a:r>
            <a:r>
              <a:rPr lang="en-US" b="1" dirty="0">
                <a:solidFill>
                  <a:srgbClr val="FFFF00"/>
                </a:solidFill>
              </a:rPr>
              <a:t>LSTM</a:t>
            </a:r>
            <a:r>
              <a:rPr lang="en-US" dirty="0"/>
              <a:t>, and fully connected layers. A dataset, </a:t>
            </a:r>
            <a:r>
              <a:rPr lang="en-US" b="1" dirty="0">
                <a:solidFill>
                  <a:srgbClr val="FFFF00"/>
                </a:solidFill>
              </a:rPr>
              <a:t>RLVS</a:t>
            </a:r>
            <a:r>
              <a:rPr lang="en-US" dirty="0"/>
              <a:t>, with </a:t>
            </a:r>
            <a:r>
              <a:rPr lang="en-US" b="1" dirty="0">
                <a:solidFill>
                  <a:srgbClr val="FFFF00"/>
                </a:solidFill>
              </a:rPr>
              <a:t>2000</a:t>
            </a:r>
            <a:r>
              <a:rPr lang="en-US" dirty="0"/>
              <a:t> videos, is introduced to improve generalization.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The model achieves </a:t>
            </a:r>
            <a:r>
              <a:rPr lang="en-US" b="1" dirty="0"/>
              <a:t>accuracy of </a:t>
            </a:r>
            <a:r>
              <a:rPr lang="en-US" b="1" dirty="0">
                <a:solidFill>
                  <a:srgbClr val="FFFF00"/>
                </a:solidFill>
              </a:rPr>
              <a:t>88.2%</a:t>
            </a:r>
            <a:br>
              <a:rPr lang="en-US" dirty="0"/>
            </a:br>
            <a:br>
              <a:rPr lang="en-US" dirty="0"/>
            </a:b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750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777" y="300371"/>
            <a:ext cx="9905998" cy="1478570"/>
          </a:xfrm>
        </p:spPr>
        <p:txBody>
          <a:bodyPr/>
          <a:lstStyle/>
          <a:p>
            <a:pPr algn="l"/>
            <a:r>
              <a:rPr lang="en-US" sz="4000" dirty="0"/>
              <a:t>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0077-C84E-4781-9EE1-094C4BDF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1087623" y="1362775"/>
            <a:ext cx="95743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Real-Time CCTV Violence Detection Automation 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i="1" dirty="0"/>
              <a:t>Published in </a:t>
            </a:r>
            <a:r>
              <a:rPr lang="en-US" b="1" i="1" dirty="0">
                <a:solidFill>
                  <a:srgbClr val="FFFF00"/>
                </a:solidFill>
              </a:rPr>
              <a:t>June 2025</a:t>
            </a:r>
            <a:endParaRPr lang="en-US" b="1" i="1" dirty="0"/>
          </a:p>
          <a:p>
            <a:endParaRPr lang="en-US" dirty="0"/>
          </a:p>
          <a:p>
            <a:r>
              <a:rPr lang="en-US" b="1" dirty="0"/>
              <a:t>By</a:t>
            </a:r>
            <a:r>
              <a:rPr lang="en-US" dirty="0"/>
              <a:t> </a:t>
            </a:r>
            <a:r>
              <a:rPr lang="en-US" b="1" dirty="0"/>
              <a:t>Atharva Deshmukh, Vaishnavi Dayama, Shubham Mane, Shantanu Savaji,</a:t>
            </a:r>
          </a:p>
          <a:p>
            <a:r>
              <a:rPr lang="en-US" b="1" dirty="0">
                <a:solidFill>
                  <a:srgbClr val="FFFF00"/>
                </a:solidFill>
              </a:rPr>
              <a:t>Prof. Priyanka Khalate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paper introduces a real-time CCTV violence detection system that uses deep learning (</a:t>
            </a:r>
            <a:r>
              <a:rPr lang="en-US" b="1" dirty="0">
                <a:solidFill>
                  <a:srgbClr val="FFFF00"/>
                </a:solidFill>
              </a:rPr>
              <a:t>CNN</a:t>
            </a:r>
            <a:r>
              <a:rPr lang="en-US" dirty="0"/>
              <a:t> and </a:t>
            </a:r>
            <a:r>
              <a:rPr lang="en-US" b="1" dirty="0">
                <a:solidFill>
                  <a:srgbClr val="FFFF00"/>
                </a:solidFill>
              </a:rPr>
              <a:t>LSTM</a:t>
            </a:r>
            <a:r>
              <a:rPr lang="en-US" dirty="0"/>
              <a:t> models) to automatically identify violent activities from video streams.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Datasets, </a:t>
            </a:r>
            <a:r>
              <a:rPr lang="en-US" b="1" dirty="0">
                <a:solidFill>
                  <a:srgbClr val="FFFF00"/>
                </a:solidFill>
              </a:rPr>
              <a:t>RLVS</a:t>
            </a:r>
            <a:r>
              <a:rPr lang="en-US" dirty="0"/>
              <a:t>, </a:t>
            </a:r>
            <a:r>
              <a:rPr lang="en-US" b="1" dirty="0">
                <a:solidFill>
                  <a:srgbClr val="FFFF00"/>
                </a:solidFill>
              </a:rPr>
              <a:t>SFD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is introduced to improve generalization.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br>
              <a:rPr lang="en-US" dirty="0"/>
            </a:br>
            <a:br>
              <a:rPr lang="en-US" dirty="0"/>
            </a:b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82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777" y="300371"/>
            <a:ext cx="9905998" cy="1478570"/>
          </a:xfrm>
        </p:spPr>
        <p:txBody>
          <a:bodyPr/>
          <a:lstStyle/>
          <a:p>
            <a:pPr algn="l"/>
            <a:r>
              <a:rPr lang="en-US" sz="4000" dirty="0"/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0077-C84E-4781-9EE1-094C4BDF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EB125-B7D4-42CC-924B-CEBD1539F4E7}"/>
              </a:ext>
            </a:extLst>
          </p:cNvPr>
          <p:cNvSpPr txBox="1"/>
          <p:nvPr/>
        </p:nvSpPr>
        <p:spPr>
          <a:xfrm>
            <a:off x="1452282" y="1778941"/>
            <a:ext cx="90617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detect violent behavior in video streams, the system must extract features that represent both the </a:t>
            </a:r>
            <a:r>
              <a:rPr lang="en-US" sz="2400" b="1" dirty="0">
                <a:solidFill>
                  <a:srgbClr val="FFFF00"/>
                </a:solidFill>
              </a:rPr>
              <a:t>visual appearance features</a:t>
            </a:r>
            <a:r>
              <a:rPr lang="en-US" sz="2400" dirty="0"/>
              <a:t> and the </a:t>
            </a:r>
            <a:r>
              <a:rPr lang="en-US" sz="2400" b="1" dirty="0">
                <a:solidFill>
                  <a:srgbClr val="FFFF00"/>
                </a:solidFill>
              </a:rPr>
              <a:t>motion features</a:t>
            </a:r>
            <a:r>
              <a:rPr lang="en-US" sz="2400" b="1" dirty="0"/>
              <a:t> </a:t>
            </a:r>
            <a:r>
              <a:rPr lang="en-US" sz="2400" dirty="0"/>
              <a:t>occurring over time.</a:t>
            </a:r>
          </a:p>
          <a:p>
            <a:endParaRPr lang="en-US" sz="2400" dirty="0"/>
          </a:p>
          <a:p>
            <a:r>
              <a:rPr lang="en-US" sz="2400" b="0" i="0" dirty="0">
                <a:effectLst/>
                <a:latin typeface="gg sans"/>
              </a:rPr>
              <a:t>Therefore, </a:t>
            </a:r>
            <a:r>
              <a:rPr lang="en-US" sz="2400" dirty="0">
                <a:latin typeface="gg sans"/>
              </a:rPr>
              <a:t>we need to add </a:t>
            </a:r>
            <a:r>
              <a:rPr lang="en-US" sz="2400" b="0" i="0" dirty="0">
                <a:effectLst/>
                <a:latin typeface="gg sans"/>
              </a:rPr>
              <a:t>two categories </a:t>
            </a:r>
            <a:r>
              <a:rPr lang="en-US" sz="2400" dirty="0">
                <a:latin typeface="gg sans"/>
              </a:rPr>
              <a:t>of modules:</a:t>
            </a:r>
          </a:p>
          <a:p>
            <a:endParaRPr lang="en-US" sz="2400" dirty="0">
              <a:latin typeface="gg sans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Spatial Feature </a:t>
            </a:r>
            <a:r>
              <a:rPr lang="en-US" sz="2400" b="0" i="0" dirty="0">
                <a:effectLst/>
                <a:latin typeface="gg sans"/>
              </a:rPr>
              <a:t>extraction Module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b="0" i="0" dirty="0">
              <a:effectLst/>
              <a:latin typeface="gg sans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i="0" dirty="0">
                <a:solidFill>
                  <a:srgbClr val="FFFF00"/>
                </a:solidFill>
                <a:effectLst/>
                <a:latin typeface="gg sans"/>
              </a:rPr>
              <a:t>Temporal Feature </a:t>
            </a:r>
            <a:r>
              <a:rPr lang="en-US" sz="2400" b="0" i="0" dirty="0">
                <a:effectLst/>
                <a:latin typeface="gg sans"/>
              </a:rPr>
              <a:t>extraction Module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6388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71" y="-80682"/>
            <a:ext cx="9788348" cy="1093694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0077-C84E-4781-9EE1-094C4BDF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659" y="6421157"/>
            <a:ext cx="753545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A87DB2-81A5-4228-A1CD-771F5557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30" y="1013012"/>
            <a:ext cx="10791918" cy="543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96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System Architecture: Alert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7F7FB-1598-40F5-8955-C6778494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1141413" y="2236887"/>
            <a:ext cx="95743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main </a:t>
            </a:r>
            <a:r>
              <a:rPr lang="en-US" sz="2400" b="1" dirty="0">
                <a:solidFill>
                  <a:srgbClr val="FFFF00"/>
                </a:solidFill>
              </a:rPr>
              <a:t>goal</a:t>
            </a:r>
            <a:r>
              <a:rPr lang="en-US" sz="2400" dirty="0"/>
              <a:t> of the alert module is to: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Receive </a:t>
            </a:r>
            <a:r>
              <a:rPr lang="en-US" sz="2400" b="1" dirty="0">
                <a:solidFill>
                  <a:srgbClr val="FFFF00"/>
                </a:solidFill>
              </a:rPr>
              <a:t>real-time</a:t>
            </a:r>
            <a:r>
              <a:rPr lang="en-US" sz="2400" b="1" dirty="0"/>
              <a:t> </a:t>
            </a:r>
            <a:r>
              <a:rPr lang="en-US" sz="2400" dirty="0"/>
              <a:t>alerts from the AI model whenever violence or weapon usage is detected.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Notify authorized users through the </a:t>
            </a:r>
            <a:r>
              <a:rPr lang="en-US" sz="2400" b="1" dirty="0">
                <a:solidFill>
                  <a:srgbClr val="FFFF00"/>
                </a:solidFill>
              </a:rPr>
              <a:t>web dashboard</a:t>
            </a:r>
            <a:r>
              <a:rPr lang="en-US" sz="2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Enable operators to review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FF00"/>
                </a:solidFill>
              </a:rPr>
              <a:t>incident details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5911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System Architecture: Alert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12044-AAE6-413F-AFF2-3E267724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1141413" y="1779687"/>
            <a:ext cx="957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detection system sends </a:t>
            </a:r>
            <a:r>
              <a:rPr lang="en-US" sz="2400" b="1" dirty="0">
                <a:solidFill>
                  <a:srgbClr val="FFFF00"/>
                </a:solidFill>
              </a:rPr>
              <a:t>JSON</a:t>
            </a:r>
            <a:r>
              <a:rPr lang="en-US" sz="2400" dirty="0"/>
              <a:t> data containing: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B0DAA-81B5-4F4F-A378-521344470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996319"/>
            <a:ext cx="10292417" cy="238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2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System Architecture: Alert module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0C23B-C7B8-4E0A-A3D4-F0FB2028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99B82-E474-493B-AF57-554E815D0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33" y="1580215"/>
            <a:ext cx="10152533" cy="43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13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System Architecture: Datasets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DE002-0AC6-428E-8B10-42C07FCF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6B741-9004-4B6C-8FFA-4D1A3834767E}"/>
              </a:ext>
            </a:extLst>
          </p:cNvPr>
          <p:cNvSpPr txBox="1"/>
          <p:nvPr/>
        </p:nvSpPr>
        <p:spPr>
          <a:xfrm>
            <a:off x="1125325" y="1866766"/>
            <a:ext cx="963232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i="0" dirty="0">
                <a:effectLst/>
                <a:latin typeface="zeitung"/>
              </a:rPr>
              <a:t>Smart-City CCTV Violence Detection Dataset (SCVD) – </a:t>
            </a:r>
            <a:r>
              <a:rPr lang="en-US" sz="2400" i="1" dirty="0">
                <a:solidFill>
                  <a:srgbClr val="FFFF00"/>
                </a:solidFill>
                <a:effectLst/>
                <a:latin typeface="zeitung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endParaRPr lang="en-US" sz="2400" i="1" dirty="0">
              <a:solidFill>
                <a:srgbClr val="FFFF00"/>
              </a:solidFill>
              <a:effectLst/>
              <a:latin typeface="zeitung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i="1" dirty="0">
              <a:solidFill>
                <a:srgbClr val="FFFF00"/>
              </a:solidFill>
              <a:effectLst/>
              <a:latin typeface="zeitung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Collected by: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FF00"/>
                </a:solidFill>
              </a:rPr>
              <a:t>Aremu</a:t>
            </a:r>
            <a:r>
              <a:rPr lang="en-US" sz="2400" dirty="0"/>
              <a:t> </a:t>
            </a:r>
            <a:r>
              <a:rPr lang="en-US" sz="2400" i="1" dirty="0"/>
              <a:t>et al.</a:t>
            </a:r>
            <a:r>
              <a:rPr lang="en-US" sz="2400" dirty="0"/>
              <a:t> as part of smart-city CCTV surveillance research.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What it contains: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1"/>
            <a:r>
              <a:rPr lang="en-US" sz="2400" dirty="0"/>
              <a:t>The dataset </a:t>
            </a:r>
            <a:r>
              <a:rPr lang="en-US" sz="2400" dirty="0">
                <a:solidFill>
                  <a:srgbClr val="FFFF00"/>
                </a:solidFill>
              </a:rPr>
              <a:t>contains</a:t>
            </a:r>
            <a:r>
              <a:rPr lang="en-US" sz="2400" dirty="0"/>
              <a:t> CCTV-style videos of violent actions and a unique class for weapon detection, where any handheld object capable of causing harm is labeled as a weapon making it the </a:t>
            </a:r>
            <a:r>
              <a:rPr lang="en-US" sz="2400" dirty="0">
                <a:solidFill>
                  <a:srgbClr val="FFFF00"/>
                </a:solidFill>
              </a:rPr>
              <a:t>first</a:t>
            </a:r>
            <a:r>
              <a:rPr lang="en-US" sz="2400" dirty="0"/>
              <a:t> video-based weapons dataset.</a:t>
            </a:r>
            <a:endParaRPr lang="en-US" sz="2400" i="1" dirty="0">
              <a:solidFill>
                <a:srgbClr val="FFFF00"/>
              </a:solidFill>
              <a:effectLst/>
              <a:latin typeface="zeitung"/>
            </a:endParaRPr>
          </a:p>
          <a:p>
            <a:pPr lvl="1"/>
            <a:endParaRPr lang="en-US" sz="2000" b="0" i="1" dirty="0">
              <a:solidFill>
                <a:srgbClr val="FFFF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00629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5" y="645458"/>
            <a:ext cx="5307711" cy="97045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Software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7E736-1590-46EE-8EA4-1C6132CC2BC8}"/>
              </a:ext>
            </a:extLst>
          </p:cNvPr>
          <p:cNvSpPr txBox="1"/>
          <p:nvPr/>
        </p:nvSpPr>
        <p:spPr>
          <a:xfrm>
            <a:off x="1141413" y="1779687"/>
            <a:ext cx="481115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/>
              <a:t>IDE tools 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/>
              <a:t>Visual Studio Code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/>
              <a:t>Google Colab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600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Video Manipulation Library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OpenCV</a:t>
            </a:r>
          </a:p>
          <a:p>
            <a:endParaRPr lang="en-US" sz="2400" dirty="0"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Deep Learning Frameworks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TensorFlow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 PyTorch</a:t>
            </a:r>
          </a:p>
        </p:txBody>
      </p:sp>
      <p:pic>
        <p:nvPicPr>
          <p:cNvPr id="7" name="Picture 6" descr="CPU with binary numbers and blueprint">
            <a:extLst>
              <a:ext uri="{FF2B5EF4-FFF2-40B4-BE49-F238E27FC236}">
                <a16:creationId xmlns:a16="http://schemas.microsoft.com/office/drawing/2014/main" id="{B00B52A4-6E6E-4291-83F7-DDF4D6658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310" y="0"/>
            <a:ext cx="5459506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3EAEF-14EF-4512-A565-FD0A890A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76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5" y="645458"/>
            <a:ext cx="5307711" cy="97045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Software Requirements</a:t>
            </a:r>
          </a:p>
        </p:txBody>
      </p:sp>
      <p:pic>
        <p:nvPicPr>
          <p:cNvPr id="7" name="Picture 6" descr="CPU with binary numbers and blueprint">
            <a:extLst>
              <a:ext uri="{FF2B5EF4-FFF2-40B4-BE49-F238E27FC236}">
                <a16:creationId xmlns:a16="http://schemas.microsoft.com/office/drawing/2014/main" id="{B00B52A4-6E6E-4291-83F7-DDF4D6658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310" y="0"/>
            <a:ext cx="5459506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3EAEF-14EF-4512-A565-FD0A890A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C5BF0-779C-4174-B574-F6A9A14B3373}"/>
              </a:ext>
            </a:extLst>
          </p:cNvPr>
          <p:cNvSpPr txBox="1"/>
          <p:nvPr/>
        </p:nvSpPr>
        <p:spPr>
          <a:xfrm>
            <a:off x="1141413" y="1779687"/>
            <a:ext cx="481115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/>
              <a:t>Libraries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NumPy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MatPlotLib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600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GUI Library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Tkinter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Deep Learning Models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CNN+LSTM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YOLOv8</a:t>
            </a:r>
          </a:p>
        </p:txBody>
      </p:sp>
    </p:spTree>
    <p:extLst>
      <p:ext uri="{BB962C8B-B14F-4D97-AF65-F5344CB8AC3E}">
        <p14:creationId xmlns:p14="http://schemas.microsoft.com/office/powerpoint/2010/main" val="1690690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5" y="645458"/>
            <a:ext cx="5585616" cy="97045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Hardware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3EAEF-14EF-4512-A565-FD0A890A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7B45C-A0D5-4A81-B140-5005ED757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132" y="2333546"/>
            <a:ext cx="1413215" cy="14132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1586D4-A1AB-4BAE-A49F-09043755ECDE}"/>
              </a:ext>
            </a:extLst>
          </p:cNvPr>
          <p:cNvSpPr txBox="1"/>
          <p:nvPr/>
        </p:nvSpPr>
        <p:spPr>
          <a:xfrm>
            <a:off x="2111091" y="4449616"/>
            <a:ext cx="2394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CCTV cameras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3DBE0-8A29-407D-B90C-0CB6AF88AC53}"/>
              </a:ext>
            </a:extLst>
          </p:cNvPr>
          <p:cNvSpPr txBox="1"/>
          <p:nvPr/>
        </p:nvSpPr>
        <p:spPr>
          <a:xfrm>
            <a:off x="5031562" y="2638765"/>
            <a:ext cx="8426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03D5A-B712-4C96-A078-07B270D8A817}"/>
              </a:ext>
            </a:extLst>
          </p:cNvPr>
          <p:cNvSpPr txBox="1"/>
          <p:nvPr/>
        </p:nvSpPr>
        <p:spPr>
          <a:xfrm>
            <a:off x="7146610" y="4449615"/>
            <a:ext cx="330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Backend Server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CB3D20-3967-43DC-889C-54612BC14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084" y="2094444"/>
            <a:ext cx="1539141" cy="189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04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5" y="645458"/>
            <a:ext cx="5459506" cy="97045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Hardware Requirements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1DF27F-B13A-4625-9A93-14AF4080B8D8}"/>
              </a:ext>
            </a:extLst>
          </p:cNvPr>
          <p:cNvSpPr txBox="1"/>
          <p:nvPr/>
        </p:nvSpPr>
        <p:spPr>
          <a:xfrm>
            <a:off x="995081" y="2228671"/>
            <a:ext cx="5316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Many </a:t>
            </a:r>
            <a:r>
              <a:rPr lang="en-US" sz="2400" dirty="0">
                <a:solidFill>
                  <a:srgbClr val="FFFF00"/>
                </a:solidFill>
              </a:rPr>
              <a:t>CCTV cameras </a:t>
            </a:r>
            <a:r>
              <a:rPr lang="en-US" sz="2400" dirty="0"/>
              <a:t>recording &amp; doing processing in the </a:t>
            </a:r>
            <a:r>
              <a:rPr lang="en-US" sz="2400" dirty="0">
                <a:solidFill>
                  <a:srgbClr val="FFFF00"/>
                </a:solidFill>
              </a:rPr>
              <a:t>Backend Server.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14" name="Picture 13" descr="Close-up of a camera lens">
            <a:extLst>
              <a:ext uri="{FF2B5EF4-FFF2-40B4-BE49-F238E27FC236}">
                <a16:creationId xmlns:a16="http://schemas.microsoft.com/office/drawing/2014/main" id="{1D069577-24B3-4E1D-A373-F2309B75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494" y="0"/>
            <a:ext cx="5459506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3EAEF-14EF-4512-A565-FD0A890A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B9BFE6-2B96-4800-9AAD-41D3278F3509}"/>
              </a:ext>
            </a:extLst>
          </p:cNvPr>
          <p:cNvSpPr txBox="1"/>
          <p:nvPr/>
        </p:nvSpPr>
        <p:spPr>
          <a:xfrm>
            <a:off x="995081" y="3559931"/>
            <a:ext cx="531607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Each camera will have an </a:t>
            </a:r>
            <a:r>
              <a:rPr lang="en-US" sz="2400" dirty="0">
                <a:solidFill>
                  <a:srgbClr val="FFFF00"/>
                </a:solidFill>
              </a:rPr>
              <a:t>IP address.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Camera footage can be accessed by </a:t>
            </a:r>
            <a:r>
              <a:rPr lang="en-US" sz="2400" dirty="0">
                <a:solidFill>
                  <a:srgbClr val="FFFF00"/>
                </a:solidFill>
              </a:rPr>
              <a:t>RTSP</a:t>
            </a:r>
            <a:r>
              <a:rPr lang="en-US" sz="2400" dirty="0"/>
              <a:t> (Real Time Streaming Protocol).</a:t>
            </a:r>
          </a:p>
        </p:txBody>
      </p:sp>
    </p:spTree>
    <p:extLst>
      <p:ext uri="{BB962C8B-B14F-4D97-AF65-F5344CB8AC3E}">
        <p14:creationId xmlns:p14="http://schemas.microsoft.com/office/powerpoint/2010/main" val="4144361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F8C5-67AF-43F8-9FA8-D1697471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Timeplan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7171D0-F0C8-4D1C-8614-22B4951F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7A914C-ADD4-4D27-BE2C-280A7CAF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94" y="1667436"/>
            <a:ext cx="11627224" cy="399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72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R</a:t>
            </a:r>
            <a:r>
              <a:rPr lang="en-US" sz="4000" dirty="0"/>
              <a:t>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DE002-0AC6-428E-8B10-42C07FCF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6B741-9004-4B6C-8FFA-4D1A3834767E}"/>
              </a:ext>
            </a:extLst>
          </p:cNvPr>
          <p:cNvSpPr txBox="1"/>
          <p:nvPr/>
        </p:nvSpPr>
        <p:spPr>
          <a:xfrm>
            <a:off x="924444" y="1992725"/>
            <a:ext cx="109000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i="0" dirty="0">
                <a:effectLst/>
                <a:latin typeface="zeitung"/>
                <a:hlinkClick r:id="rId2"/>
              </a:rPr>
              <a:t>By Mohamed et al. (2019) Violence Recognition from Videos using Deep Learning Techniques</a:t>
            </a:r>
            <a:endParaRPr lang="en-US" sz="2000" b="1" i="0" dirty="0">
              <a:effectLst/>
              <a:latin typeface="zeitung"/>
            </a:endParaRPr>
          </a:p>
          <a:p>
            <a:pPr lvl="1"/>
            <a:endParaRPr lang="en-US" sz="2000" b="1" i="0" dirty="0">
              <a:effectLst/>
              <a:latin typeface="zeitung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i="0" dirty="0">
                <a:effectLst/>
                <a:latin typeface="zeitung"/>
                <a:hlinkClick r:id="rId3"/>
              </a:rPr>
              <a:t>By Atharva et al. (2025) Real-Time CCTV Violence Detection Automation System</a:t>
            </a:r>
            <a:endParaRPr lang="en-US" sz="2000" b="1" i="0" dirty="0">
              <a:effectLst/>
              <a:latin typeface="zeitung"/>
            </a:endParaRPr>
          </a:p>
          <a:p>
            <a:pPr lvl="1"/>
            <a:endParaRPr lang="en-US" sz="2000" dirty="0">
              <a:solidFill>
                <a:srgbClr val="FFFF00"/>
              </a:solidFill>
            </a:endParaRPr>
          </a:p>
          <a:p>
            <a:pPr lvl="1"/>
            <a:endParaRPr lang="en-US" sz="2000" dirty="0">
              <a:solidFill>
                <a:srgbClr val="FFFF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i="0" dirty="0">
                <a:effectLst/>
                <a:latin typeface="zeitung"/>
                <a:hlinkClick r:id="rId4"/>
              </a:rPr>
              <a:t>By Aremu et al. (2024) Smart-City CCTV Violence Detection Dataset (SCVD) </a:t>
            </a:r>
            <a:r>
              <a:rPr lang="en-US" sz="2000" b="1" i="0" dirty="0">
                <a:effectLst/>
                <a:latin typeface="zeitung"/>
              </a:rPr>
              <a:t> </a:t>
            </a:r>
            <a:r>
              <a:rPr lang="en-US" sz="2000" i="1" dirty="0">
                <a:effectLst/>
                <a:latin typeface="zeitung"/>
              </a:rPr>
              <a:t>on </a:t>
            </a:r>
            <a:r>
              <a:rPr lang="en-US" sz="2000" i="1" dirty="0">
                <a:solidFill>
                  <a:srgbClr val="FFFF00"/>
                </a:solidFill>
                <a:effectLst/>
                <a:latin typeface="zeitung"/>
              </a:rPr>
              <a:t>Kaggle</a:t>
            </a:r>
          </a:p>
          <a:p>
            <a:endParaRPr lang="en-US" sz="2000" b="1" i="0" dirty="0">
              <a:effectLst/>
              <a:latin typeface="zeitung"/>
            </a:endParaRPr>
          </a:p>
          <a:p>
            <a:pPr lvl="1"/>
            <a:endParaRPr lang="en-US" sz="2000" b="0" i="1" dirty="0">
              <a:solidFill>
                <a:srgbClr val="FFFF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04691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BC5-7709-4E4D-88CC-CD71D75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483" y="2429738"/>
            <a:ext cx="3825034" cy="1478570"/>
          </a:xfrm>
        </p:spPr>
        <p:txBody>
          <a:bodyPr>
            <a:normAutofit/>
          </a:bodyPr>
          <a:lstStyle/>
          <a:p>
            <a:pPr algn="l"/>
            <a:r>
              <a:rPr lang="en-US" sz="5000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9A45AE-CE34-4617-AB37-DDFA352D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045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1610</TotalTime>
  <Words>884</Words>
  <Application>Microsoft Office PowerPoint</Application>
  <PresentationFormat>Widescreen</PresentationFormat>
  <Paragraphs>167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Calibri</vt:lpstr>
      <vt:lpstr>Calisto MT</vt:lpstr>
      <vt:lpstr>Cambria</vt:lpstr>
      <vt:lpstr>gg sans</vt:lpstr>
      <vt:lpstr>inherit</vt:lpstr>
      <vt:lpstr>Inter</vt:lpstr>
      <vt:lpstr>Wingdings</vt:lpstr>
      <vt:lpstr>Wingdings 2</vt:lpstr>
      <vt:lpstr>zeitung</vt:lpstr>
      <vt:lpstr>Slate</vt:lpstr>
      <vt:lpstr>PowerPoint Presentation</vt:lpstr>
      <vt:lpstr>PowerPoint Presentation</vt:lpstr>
      <vt:lpstr>Agenda</vt:lpstr>
      <vt:lpstr>Introduction</vt:lpstr>
      <vt:lpstr>Introduction</vt:lpstr>
      <vt:lpstr>Problem Statement</vt:lpstr>
      <vt:lpstr>Objective</vt:lpstr>
      <vt:lpstr>Survey</vt:lpstr>
      <vt:lpstr>Survey</vt:lpstr>
      <vt:lpstr>System Architecture</vt:lpstr>
      <vt:lpstr>System Architecture</vt:lpstr>
      <vt:lpstr>System Architecture: Alert module</vt:lpstr>
      <vt:lpstr>System Architecture: Alert module</vt:lpstr>
      <vt:lpstr>System Architecture: Alert module</vt:lpstr>
      <vt:lpstr>System Architecture: Datasets</vt:lpstr>
      <vt:lpstr>Software Requirements</vt:lpstr>
      <vt:lpstr>Software Requirements</vt:lpstr>
      <vt:lpstr>Hardware Requirements</vt:lpstr>
      <vt:lpstr>Hardware Requirements</vt:lpstr>
      <vt:lpstr>Timeplan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Violence surveillance detection system</dc:title>
  <dc:creator>كريم حسام السيد حسين</dc:creator>
  <cp:lastModifiedBy>Ki Mo</cp:lastModifiedBy>
  <cp:revision>409</cp:revision>
  <dcterms:created xsi:type="dcterms:W3CDTF">2025-10-21T11:43:07Z</dcterms:created>
  <dcterms:modified xsi:type="dcterms:W3CDTF">2025-11-20T08:21:25Z</dcterms:modified>
</cp:coreProperties>
</file>